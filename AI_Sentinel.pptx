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011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23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060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4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280160" cy="0"/>
          </a:xfrm>
          <a:prstGeom prst="line">
            <a:avLst/>
          </a:prstGeom>
          <a:noFill/>
          <a:ln w="31750">
            <a:solidFill>
              <a:srgbClr val="C178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286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Autonomous Red Teaming for Enterprise AI Agents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2461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adversary that continuously stress-tests LLM-powered agents for safety, security, and regulatory-compliance vulnerabilities — replacing manual, point-in-time penetration testing with an always-on evaluation fleet.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4-Stage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5230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PIPELINE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5230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CATEGORIES MAPPED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4709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5230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 |  TRUVIQ SYSTEMS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Deployment Has Outpaced AI Security Testing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are shipping LLM-powered agents into customer support, healthcare, finance, and legal operations faster than security teams can validate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31720"/>
            <a:ext cx="457200" cy="45720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26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Sporadic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3375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reviews rely on one-off, human-led pentests that can't scale with release velocity.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331720"/>
            <a:ext cx="457200" cy="45720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943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926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Point-in-Time Only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3375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tools capture a single snapshot — blind to drift once the agent, prompts, or data change.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926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Blind Spots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33375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continuous, auditable evidence for OWASP LLM Top 10, EU AI Act, or NIST AI RMF mandates.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C233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864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line: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2120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handling PII, financial data, or MCP tool access is a live attack surface — and it needs a security program that runs as continuously as the threats do.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 |  TRUVIQ SYSTEMS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Sentinel: A Living Adversary, Not a Scanner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registers any LLM-powered endpoint, schedules recurring adversarial evaluations, and produces a continuously updating security posture score for every agent in the fleet.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Any Agent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fine-tuned, agentic, or hybrid — point at an endpoint and define its risk profile.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Continuous Runs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</a:t>
            </a:r>
            <a:r>
              <a:rPr lang="en-US" sz="1100" dirty="0" err="1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r>
              <a:rPr lang="en-US" sz="1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-based  durable and fault tolerant evaluations  keep posture scores current.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0574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212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 Prove Compliance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063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maps findings to OWASP, EU AI Act, NIST AI RMF, and more — audit-ready.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 ACTION — FLEET DASHBOARD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" y="4370832"/>
            <a:ext cx="111099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7DFD0"/>
            </a:solidFill>
            <a:prstDash val="solid"/>
          </a:ln>
        </p:spPr>
      </p:sp>
      <p:pic>
        <p:nvPicPr>
          <p:cNvPr id="19" name="Image 0" descr="/home/claude/assets/dash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25112"/>
            <a:ext cx="10863072" cy="21488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 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Deterministic, Four-Stage Attack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evaluation session runs sequentially through four fault-tolerant Temporal-orchestrated stages to produce an objective confidence score (0–100).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2633472" cy="109728"/>
          </a:xfrm>
          <a:prstGeom prst="roundRect">
            <a:avLst/>
          </a:prstGeom>
          <a:solidFill>
            <a:srgbClr val="C178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7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Orchestration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6616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adversarial attack vectors from the agent's threat model and risk profile.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5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2103120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103120"/>
            <a:ext cx="2633472" cy="109728"/>
          </a:xfrm>
          <a:prstGeom prst="roundRect">
            <a:avLst/>
          </a:prstGeom>
          <a:solidFill>
            <a:srgbClr val="1C233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38728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Adversarial Probing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38728" y="356616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prompt injection, jailbreak, bias, and toxicity attacks in real time.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52744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5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103120"/>
            <a:ext cx="2633472" cy="109728"/>
          </a:xfrm>
          <a:prstGeom prst="roundRect">
            <a:avLst/>
          </a:prstGeom>
          <a:solidFill>
            <a:srgbClr val="3F73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7648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7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AppSec Policy Sweep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56616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deterministic policy checks — PII exfiltration, hallucination, unauthorized tool use.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741664" y="3337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55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915400" y="2103120"/>
            <a:ext cx="2633472" cy="3246120"/>
          </a:xfrm>
          <a:prstGeom prst="roundRect">
            <a:avLst>
              <a:gd name="adj" fmla="val 2778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2103120"/>
            <a:ext cx="2633472" cy="109728"/>
          </a:xfrm>
          <a:prstGeom prst="roundRect">
            <a:avLst/>
          </a:prstGeom>
          <a:solidFill>
            <a:srgbClr val="9C600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16568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6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116568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Risk Scoring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16568" y="356616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results into a posture score, mapped to regulatory control frameworks.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status every 10 seconds  •  100% deterministic orchestration  •  zero production traffic impact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 |  TRUVIQ SYSTEMS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COVERAGE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Risk Categories, Continuously Scored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Sentinel's practical AI-risk taxonomy maps every adversarial finding to one of eight categories — the lowest scores surface as the most urgent.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92024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pic>
        <p:nvPicPr>
          <p:cNvPr id="6" name="Image 0" descr="/home/claude/assets/rada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5029200" cy="2633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radar — live example run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63640" y="2121408"/>
            <a:ext cx="91440" cy="91440"/>
          </a:xfrm>
          <a:prstGeom prst="rect">
            <a:avLst/>
          </a:prstGeom>
          <a:solidFill>
            <a:srgbClr val="C1781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193852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Data Governance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606040"/>
            <a:ext cx="91440" cy="91440"/>
          </a:xfrm>
          <a:prstGeom prst="rect">
            <a:avLst/>
          </a:prstGeom>
          <a:solidFill>
            <a:srgbClr val="C1781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92240" y="240944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Robustness &amp; Safety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3090672"/>
            <a:ext cx="91440" cy="91440"/>
          </a:xfrm>
          <a:prstGeom prst="rect">
            <a:avLst/>
          </a:prstGeom>
          <a:solidFill>
            <a:srgbClr val="C1781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92240" y="29077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Governance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3575304"/>
            <a:ext cx="91440" cy="91440"/>
          </a:xfrm>
          <a:prstGeom prst="rect">
            <a:avLst/>
          </a:prstGeom>
          <a:solidFill>
            <a:srgbClr val="C1781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92240" y="33832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4059936"/>
            <a:ext cx="91440" cy="91440"/>
          </a:xfrm>
          <a:prstGeom prst="rect">
            <a:avLst/>
          </a:prstGeom>
          <a:solidFill>
            <a:srgbClr val="C1781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92240" y="387705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Diversity, Non-discrimination &amp; Fairness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63640" y="4544568"/>
            <a:ext cx="91440" cy="91440"/>
          </a:xfrm>
          <a:prstGeom prst="rect">
            <a:avLst/>
          </a:prstGeom>
          <a:solidFill>
            <a:srgbClr val="C1781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92240" y="433882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&amp; Environmental Well-being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5029200"/>
            <a:ext cx="91440" cy="91440"/>
          </a:xfrm>
          <a:prstGeom prst="rect">
            <a:avLst/>
          </a:prstGeom>
          <a:solidFill>
            <a:srgbClr val="C1781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92240" y="481888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Agency &amp; Oversight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63640" y="5513832"/>
            <a:ext cx="91440" cy="91440"/>
          </a:xfrm>
          <a:prstGeom prst="rect">
            <a:avLst/>
          </a:prstGeom>
          <a:solidFill>
            <a:srgbClr val="C1781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92240" y="536295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DEPTH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Attacks: Continuous LLM Quality Scoring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hallucination, toxicity, and relevancy are scored on every run using G-Eval, QAG, and deterministic code assertions — not just pass/fail attack outcomes.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965960"/>
            <a:ext cx="11109960" cy="4114800"/>
          </a:xfrm>
          <a:prstGeom prst="roundRect">
            <a:avLst>
              <a:gd name="adj" fmla="val 1333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pic>
        <p:nvPicPr>
          <p:cNvPr id="6" name="Image 0" descr="/home/claude/assets/metric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10607040" cy="3776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Composite Score, Fully Auditable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produces a single confidence score plus pass/fail evidence, exportable as JSON/CSV for audit and board reporting.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920240"/>
            <a:ext cx="6720840" cy="2331720"/>
          </a:xfrm>
          <a:prstGeom prst="roundRect">
            <a:avLst>
              <a:gd name="adj" fmla="val 2353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pic>
        <p:nvPicPr>
          <p:cNvPr id="6" name="Image 0" descr="/home/claude/assets/result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6400800" cy="2057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52360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FRAMEWORKS MAPPED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52360" y="22677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F735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0" y="2221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26334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F735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0" y="2587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/ US EO 14110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52360" y="29992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F735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2953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DPDP Act 2023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33649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F735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0" y="3319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52360" y="37307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F73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0" y="3685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 &amp; 27001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40965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F73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0" y="4050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Aayog AI Strategy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30352" y="4434840"/>
            <a:ext cx="11109960" cy="1645920"/>
          </a:xfrm>
          <a:prstGeom prst="roundRect">
            <a:avLst>
              <a:gd name="adj" fmla="val 4444"/>
            </a:avLst>
          </a:prstGeom>
          <a:solidFill>
            <a:srgbClr val="1C233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440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verdict, all applicable standards passed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48056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verdict, all applicable standards passed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04672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04672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verdict, all applicable standards passed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1143000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STANDS 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Production, Not a Proof of Concept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21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620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First-of-its-kind continuous autonomous red teaming engine for enterprise AI fleets — not a scanner, not a checklist, a living adversary.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94560"/>
            <a:ext cx="457200" cy="457200"/>
          </a:xfrm>
          <a:prstGeom prst="ellipse">
            <a:avLst/>
          </a:prstGeom>
          <a:solidFill>
            <a:srgbClr val="3F73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2219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Depth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8620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Temporal orchestration, a 4-stage deterministic pipeline, real-time SSE streaming, and concurrency-controlled batch fleet processing.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C178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33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Relevance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7375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the EU AI Act, NIST AI RMF, and OWASP LLM Top 10 mandates every enterprise deploying AI must now meet.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BF8F2"/>
          </a:solidFill>
          <a:ln w="12700">
            <a:solidFill>
              <a:srgbClr val="E7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3F73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233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Maturity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87375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attack termination, multi-run posture comparison, scheduled cron evaluations, and audit-ready reporting.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33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Auditing to Proactive Threat Governance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enables organizations to catch prompt injection vulnerabilities, PII exfiltration risk, and unauthorized tool execution before they reach production users — and to prove compliance readiness with quantifiable, auditable evidence.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2A3242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E3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Manual, sporadic pentests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33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Point-in-time snapshots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9469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Compliance proven on request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2E3B2F"/>
          </a:solidFill>
          <a:ln w="19050">
            <a:solidFill>
              <a:srgbClr val="3F73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8FD1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520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Continuous, scheduled evaluation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233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Always-current posture score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9469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Compliance proven by default, on demand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8F2"/>
          </a:solidFill>
          <a:ln/>
        </p:spPr>
      </p:sp>
      <p:pic>
        <p:nvPicPr>
          <p:cNvPr id="3" name="Image 0" descr="/home/claude/assets/logo_banner.png"/>
          <p:cNvPicPr>
            <a:picLocks noChangeAspect="1"/>
          </p:cNvPicPr>
          <p:nvPr/>
        </p:nvPicPr>
        <p:blipFill>
          <a:blip r:embed="rId3"/>
          <a:srcRect b="37653"/>
          <a:stretch>
            <a:fillRect/>
          </a:stretch>
        </p:blipFill>
        <p:spPr>
          <a:xfrm>
            <a:off x="3478453" y="2858900"/>
            <a:ext cx="4663440" cy="5701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286000" y="3383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Autonomous AI Red Teaming &amp; Threat Governance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887858" y="3742508"/>
            <a:ext cx="1371600" cy="0"/>
          </a:xfrm>
          <a:prstGeom prst="line">
            <a:avLst/>
          </a:prstGeom>
          <a:noFill/>
          <a:ln w="25400">
            <a:solidFill>
              <a:srgbClr val="C1781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SENTINEL 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653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847</Words>
  <Application>Microsoft Office PowerPoint</Application>
  <PresentationFormat>Widescreen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Truviq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Sentinel — Executive Overview</dc:title>
  <dc:subject>PptxGenJS Presentation</dc:subject>
  <dc:creator>Truviq Systems</dc:creator>
  <cp:lastModifiedBy>Bitla Sravya Reddy</cp:lastModifiedBy>
  <cp:revision>3</cp:revision>
  <dcterms:created xsi:type="dcterms:W3CDTF">2026-09-18T06:45:55Z</dcterms:created>
  <dcterms:modified xsi:type="dcterms:W3CDTF">2026-09-25T19:05:25Z</dcterms:modified>
</cp:coreProperties>
</file>